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02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0ED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600" kern="0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practitioner's field guide to prompting AI models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2788920"/>
            <a:ext cx="5303520" cy="25603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2926080"/>
            <a:ext cx="347472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9443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Techniques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328416"/>
            <a:ext cx="5303520" cy="25603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3383280"/>
            <a:ext cx="347472" cy="347472"/>
          </a:xfrm>
          <a:prstGeom prst="rect">
            <a:avLst/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34015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 &amp; Structure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" y="3785616"/>
            <a:ext cx="5303520" cy="25603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3840480"/>
            <a:ext cx="347472" cy="347472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38587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Tuning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7472" y="4242816"/>
            <a:ext cx="5303520" cy="25603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4297680"/>
            <a:ext cx="347472" cy="347472"/>
          </a:xfrm>
          <a:prstGeom prst="rect">
            <a:avLst/>
          </a:prstGeom>
          <a:solidFill>
            <a:srgbClr val="E8614A"/>
          </a:solidFill>
          <a:ln w="12700">
            <a:solidFill>
              <a:srgbClr val="E861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43159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Code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" y="4700016"/>
            <a:ext cx="5303520" cy="25603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274320"/>
            <a:ext cx="457200" cy="420624"/>
          </a:xfrm>
          <a:prstGeom prst="rect">
            <a:avLst/>
          </a:prstGeom>
          <a:solidFill>
            <a:srgbClr val="E8A020">
              <a:alpha val="15000"/>
            </a:srgbClr>
          </a:solidFill>
          <a:ln w="12700">
            <a:solidFill>
              <a:srgbClr val="E8A020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50608" y="274320"/>
            <a:ext cx="457200" cy="420624"/>
          </a:xfrm>
          <a:prstGeom prst="rect">
            <a:avLst/>
          </a:prstGeom>
          <a:solidFill>
            <a:srgbClr val="7EC8A4">
              <a:alpha val="4000"/>
            </a:srgbClr>
          </a:solidFill>
          <a:ln w="12700">
            <a:solidFill>
              <a:srgbClr val="7EC8A4">
                <a:alpha val="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274320"/>
            <a:ext cx="457200" cy="420624"/>
          </a:xfrm>
          <a:prstGeom prst="rect">
            <a:avLst/>
          </a:prstGeom>
          <a:solidFill>
            <a:srgbClr val="5BB8D4">
              <a:alpha val="4000"/>
            </a:srgbClr>
          </a:solidFill>
          <a:ln w="12700">
            <a:solidFill>
              <a:srgbClr val="5BB8D4">
                <a:alpha val="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84464" y="274320"/>
            <a:ext cx="457200" cy="420624"/>
          </a:xfrm>
          <a:prstGeom prst="rect">
            <a:avLst/>
          </a:prstGeom>
          <a:solidFill>
            <a:srgbClr val="E8614A">
              <a:alpha val="15000"/>
            </a:srgbClr>
          </a:solidFill>
          <a:ln w="12700">
            <a:solidFill>
              <a:srgbClr val="E8614A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804672"/>
            <a:ext cx="457200" cy="420624"/>
          </a:xfrm>
          <a:prstGeom prst="rect">
            <a:avLst/>
          </a:prstGeom>
          <a:solidFill>
            <a:srgbClr val="7EC8A4">
              <a:alpha val="4000"/>
            </a:srgbClr>
          </a:solidFill>
          <a:ln w="12700">
            <a:solidFill>
              <a:srgbClr val="7EC8A4">
                <a:alpha val="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50608" y="804672"/>
            <a:ext cx="457200" cy="420624"/>
          </a:xfrm>
          <a:prstGeom prst="rect">
            <a:avLst/>
          </a:prstGeom>
          <a:solidFill>
            <a:srgbClr val="5BB8D4">
              <a:alpha val="4000"/>
            </a:srgbClr>
          </a:solidFill>
          <a:ln w="12700">
            <a:solidFill>
              <a:srgbClr val="5BB8D4">
                <a:alpha val="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17536" y="804672"/>
            <a:ext cx="457200" cy="420624"/>
          </a:xfrm>
          <a:prstGeom prst="rect">
            <a:avLst/>
          </a:prstGeom>
          <a:solidFill>
            <a:srgbClr val="E8614A">
              <a:alpha val="4000"/>
            </a:srgbClr>
          </a:solidFill>
          <a:ln w="12700">
            <a:solidFill>
              <a:srgbClr val="E8614A">
                <a:alpha val="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84464" y="804672"/>
            <a:ext cx="457200" cy="420624"/>
          </a:xfrm>
          <a:prstGeom prst="rect">
            <a:avLst/>
          </a:prstGeom>
          <a:solidFill>
            <a:srgbClr val="8A8A9A">
              <a:alpha val="15000"/>
            </a:srgbClr>
          </a:solidFill>
          <a:ln w="12700">
            <a:solidFill>
              <a:srgbClr val="8A8A9A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1335024"/>
            <a:ext cx="457200" cy="420624"/>
          </a:xfrm>
          <a:prstGeom prst="rect">
            <a:avLst/>
          </a:prstGeom>
          <a:solidFill>
            <a:srgbClr val="5BB8D4">
              <a:alpha val="15000"/>
            </a:srgbClr>
          </a:solidFill>
          <a:ln w="12700">
            <a:solidFill>
              <a:srgbClr val="5BB8D4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50608" y="1335024"/>
            <a:ext cx="457200" cy="420624"/>
          </a:xfrm>
          <a:prstGeom prst="rect">
            <a:avLst/>
          </a:prstGeom>
          <a:solidFill>
            <a:srgbClr val="E8614A">
              <a:alpha val="4000"/>
            </a:srgbClr>
          </a:solidFill>
          <a:ln w="12700">
            <a:solidFill>
              <a:srgbClr val="E8614A">
                <a:alpha val="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17536" y="1335024"/>
            <a:ext cx="457200" cy="420624"/>
          </a:xfrm>
          <a:prstGeom prst="rect">
            <a:avLst/>
          </a:prstGeom>
          <a:solidFill>
            <a:srgbClr val="8A8A9A">
              <a:alpha val="15000"/>
            </a:srgbClr>
          </a:solidFill>
          <a:ln w="12700">
            <a:solidFill>
              <a:srgbClr val="8A8A9A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84464" y="1335024"/>
            <a:ext cx="457200" cy="420624"/>
          </a:xfrm>
          <a:prstGeom prst="rect">
            <a:avLst/>
          </a:prstGeom>
          <a:solidFill>
            <a:srgbClr val="E8A020">
              <a:alpha val="4000"/>
            </a:srgbClr>
          </a:solidFill>
          <a:ln w="12700">
            <a:solidFill>
              <a:srgbClr val="E8A020">
                <a:alpha val="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0" y="1865376"/>
            <a:ext cx="457200" cy="420624"/>
          </a:xfrm>
          <a:prstGeom prst="rect">
            <a:avLst/>
          </a:prstGeom>
          <a:solidFill>
            <a:srgbClr val="E8614A">
              <a:alpha val="15000"/>
            </a:srgbClr>
          </a:solidFill>
          <a:ln w="12700">
            <a:solidFill>
              <a:srgbClr val="E8614A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50608" y="1865376"/>
            <a:ext cx="457200" cy="420624"/>
          </a:xfrm>
          <a:prstGeom prst="rect">
            <a:avLst/>
          </a:prstGeom>
          <a:solidFill>
            <a:srgbClr val="8A8A9A">
              <a:alpha val="4000"/>
            </a:srgbClr>
          </a:solidFill>
          <a:ln w="12700">
            <a:solidFill>
              <a:srgbClr val="8A8A9A">
                <a:alpha val="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17536" y="1865376"/>
            <a:ext cx="457200" cy="420624"/>
          </a:xfrm>
          <a:prstGeom prst="rect">
            <a:avLst/>
          </a:prstGeom>
          <a:solidFill>
            <a:srgbClr val="E8A020">
              <a:alpha val="4000"/>
            </a:srgbClr>
          </a:solidFill>
          <a:ln w="12700">
            <a:solidFill>
              <a:srgbClr val="E8A020">
                <a:alpha val="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84464" y="1865376"/>
            <a:ext cx="457200" cy="420624"/>
          </a:xfrm>
          <a:prstGeom prst="rect">
            <a:avLst/>
          </a:prstGeom>
          <a:solidFill>
            <a:srgbClr val="7EC8A4">
              <a:alpha val="15000"/>
            </a:srgbClr>
          </a:solidFill>
          <a:ln w="12700">
            <a:solidFill>
              <a:srgbClr val="7EC8A4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83680" y="2395728"/>
            <a:ext cx="457200" cy="420624"/>
          </a:xfrm>
          <a:prstGeom prst="rect">
            <a:avLst/>
          </a:prstGeom>
          <a:solidFill>
            <a:srgbClr val="8A8A9A">
              <a:alpha val="15000"/>
            </a:srgbClr>
          </a:solidFill>
          <a:ln w="12700">
            <a:solidFill>
              <a:srgbClr val="8A8A9A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50608" y="2395728"/>
            <a:ext cx="457200" cy="420624"/>
          </a:xfrm>
          <a:prstGeom prst="rect">
            <a:avLst/>
          </a:prstGeom>
          <a:solidFill>
            <a:srgbClr val="E8A020">
              <a:alpha val="15000"/>
            </a:srgbClr>
          </a:solidFill>
          <a:ln w="12700">
            <a:solidFill>
              <a:srgbClr val="E8A020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17536" y="2395728"/>
            <a:ext cx="457200" cy="420624"/>
          </a:xfrm>
          <a:prstGeom prst="rect">
            <a:avLst/>
          </a:prstGeom>
          <a:solidFill>
            <a:srgbClr val="7EC8A4">
              <a:alpha val="15000"/>
            </a:srgbClr>
          </a:solidFill>
          <a:ln w="12700">
            <a:solidFill>
              <a:srgbClr val="7EC8A4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84464" y="2395728"/>
            <a:ext cx="457200" cy="420624"/>
          </a:xfrm>
          <a:prstGeom prst="rect">
            <a:avLst/>
          </a:prstGeom>
          <a:solidFill>
            <a:srgbClr val="5BB8D4">
              <a:alpha val="15000"/>
            </a:srgbClr>
          </a:solidFill>
          <a:ln w="12700">
            <a:solidFill>
              <a:srgbClr val="5BB8D4">
                <a:alpha val="1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0" y="2926080"/>
            <a:ext cx="457200" cy="420624"/>
          </a:xfrm>
          <a:prstGeom prst="rect">
            <a:avLst/>
          </a:prstGeom>
          <a:solidFill>
            <a:srgbClr val="E8A020">
              <a:alpha val="4000"/>
            </a:srgbClr>
          </a:solidFill>
          <a:ln w="12700">
            <a:solidFill>
              <a:srgbClr val="E8A020">
                <a:alpha val="4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50608" y="2926080"/>
            <a:ext cx="457200" cy="420624"/>
          </a:xfrm>
          <a:prstGeom prst="rect">
            <a:avLst/>
          </a:prstGeom>
          <a:solidFill>
            <a:srgbClr val="7EC8A4">
              <a:alpha val="15000"/>
            </a:srgbClr>
          </a:solidFill>
          <a:ln w="12700">
            <a:solidFill>
              <a:srgbClr val="7EC8A4">
                <a:alpha val="1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17536" y="2926080"/>
            <a:ext cx="457200" cy="420624"/>
          </a:xfrm>
          <a:prstGeom prst="rect">
            <a:avLst/>
          </a:prstGeom>
          <a:solidFill>
            <a:srgbClr val="5BB8D4">
              <a:alpha val="15000"/>
            </a:srgbClr>
          </a:solidFill>
          <a:ln w="12700">
            <a:solidFill>
              <a:srgbClr val="5BB8D4">
                <a:alpha val="1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84464" y="2926080"/>
            <a:ext cx="457200" cy="420624"/>
          </a:xfrm>
          <a:prstGeom prst="rect">
            <a:avLst/>
          </a:prstGeom>
          <a:solidFill>
            <a:srgbClr val="E8614A">
              <a:alpha val="15000"/>
            </a:srgbClr>
          </a:solidFill>
          <a:ln w="12700">
            <a:solidFill>
              <a:srgbClr val="E8614A">
                <a:alpha val="1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0" y="3456432"/>
            <a:ext cx="457200" cy="420624"/>
          </a:xfrm>
          <a:prstGeom prst="rect">
            <a:avLst/>
          </a:prstGeom>
          <a:solidFill>
            <a:srgbClr val="7EC8A4">
              <a:alpha val="15000"/>
            </a:srgbClr>
          </a:solidFill>
          <a:ln w="12700">
            <a:solidFill>
              <a:srgbClr val="7EC8A4">
                <a:alpha val="1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50608" y="3456432"/>
            <a:ext cx="457200" cy="420624"/>
          </a:xfrm>
          <a:prstGeom prst="rect">
            <a:avLst/>
          </a:prstGeom>
          <a:solidFill>
            <a:srgbClr val="5BB8D4">
              <a:alpha val="15000"/>
            </a:srgbClr>
          </a:solidFill>
          <a:ln w="12700">
            <a:solidFill>
              <a:srgbClr val="5BB8D4">
                <a:alpha val="1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17536" y="3456432"/>
            <a:ext cx="457200" cy="420624"/>
          </a:xfrm>
          <a:prstGeom prst="rect">
            <a:avLst/>
          </a:prstGeom>
          <a:solidFill>
            <a:srgbClr val="E8614A">
              <a:alpha val="4000"/>
            </a:srgbClr>
          </a:solidFill>
          <a:ln w="12700">
            <a:solidFill>
              <a:srgbClr val="E8614A">
                <a:alpha val="4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84464" y="3456432"/>
            <a:ext cx="457200" cy="420624"/>
          </a:xfrm>
          <a:prstGeom prst="rect">
            <a:avLst/>
          </a:prstGeom>
          <a:solidFill>
            <a:srgbClr val="8A8A9A">
              <a:alpha val="4000"/>
            </a:srgbClr>
          </a:solidFill>
          <a:ln w="12700">
            <a:solidFill>
              <a:srgbClr val="8A8A9A">
                <a:alpha val="4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83680" y="3986784"/>
            <a:ext cx="457200" cy="420624"/>
          </a:xfrm>
          <a:prstGeom prst="rect">
            <a:avLst/>
          </a:prstGeom>
          <a:solidFill>
            <a:srgbClr val="5BB8D4">
              <a:alpha val="4000"/>
            </a:srgbClr>
          </a:solidFill>
          <a:ln w="12700">
            <a:solidFill>
              <a:srgbClr val="5BB8D4">
                <a:alpha val="4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50608" y="3986784"/>
            <a:ext cx="457200" cy="420624"/>
          </a:xfrm>
          <a:prstGeom prst="rect">
            <a:avLst/>
          </a:prstGeom>
          <a:solidFill>
            <a:srgbClr val="E8614A">
              <a:alpha val="4000"/>
            </a:srgbClr>
          </a:solidFill>
          <a:ln w="12700">
            <a:solidFill>
              <a:srgbClr val="E8614A">
                <a:alpha val="4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17536" y="3986784"/>
            <a:ext cx="457200" cy="420624"/>
          </a:xfrm>
          <a:prstGeom prst="rect">
            <a:avLst/>
          </a:prstGeom>
          <a:solidFill>
            <a:srgbClr val="8A8A9A">
              <a:alpha val="4000"/>
            </a:srgbClr>
          </a:solidFill>
          <a:ln w="12700">
            <a:solidFill>
              <a:srgbClr val="8A8A9A">
                <a:alpha val="4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84464" y="3986784"/>
            <a:ext cx="457200" cy="420624"/>
          </a:xfrm>
          <a:prstGeom prst="rect">
            <a:avLst/>
          </a:prstGeom>
          <a:solidFill>
            <a:srgbClr val="E8A020">
              <a:alpha val="4000"/>
            </a:srgbClr>
          </a:solidFill>
          <a:ln w="12700">
            <a:solidFill>
              <a:srgbClr val="E8A020">
                <a:alpha val="4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83680" y="4517136"/>
            <a:ext cx="457200" cy="420624"/>
          </a:xfrm>
          <a:prstGeom prst="rect">
            <a:avLst/>
          </a:prstGeom>
          <a:solidFill>
            <a:srgbClr val="E8614A">
              <a:alpha val="4000"/>
            </a:srgbClr>
          </a:solidFill>
          <a:ln w="12700">
            <a:solidFill>
              <a:srgbClr val="E8614A">
                <a:alpha val="4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4517136"/>
            <a:ext cx="457200" cy="420624"/>
          </a:xfrm>
          <a:prstGeom prst="rect">
            <a:avLst/>
          </a:prstGeom>
          <a:solidFill>
            <a:srgbClr val="8A8A9A">
              <a:alpha val="4000"/>
            </a:srgbClr>
          </a:solidFill>
          <a:ln w="12700">
            <a:solidFill>
              <a:srgbClr val="8A8A9A">
                <a:alpha val="4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17536" y="4517136"/>
            <a:ext cx="457200" cy="420624"/>
          </a:xfrm>
          <a:prstGeom prst="rect">
            <a:avLst/>
          </a:prstGeom>
          <a:solidFill>
            <a:srgbClr val="E8A020">
              <a:alpha val="4000"/>
            </a:srgbClr>
          </a:solidFill>
          <a:ln w="12700">
            <a:solidFill>
              <a:srgbClr val="E8A020">
                <a:alpha val="4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84464" y="4517136"/>
            <a:ext cx="457200" cy="420624"/>
          </a:xfrm>
          <a:prstGeom prst="rect">
            <a:avLst/>
          </a:prstGeom>
          <a:solidFill>
            <a:srgbClr val="7EC8A4">
              <a:alpha val="4000"/>
            </a:srgbClr>
          </a:solidFill>
          <a:ln w="12700">
            <a:solidFill>
              <a:srgbClr val="7EC8A4">
                <a:alpha val="4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83680" y="274320"/>
            <a:ext cx="1042416" cy="950976"/>
          </a:xfrm>
          <a:prstGeom prst="rect">
            <a:avLst/>
          </a:prstGeom>
          <a:solidFill>
            <a:srgbClr val="E8A020">
              <a:alpha val="45000"/>
            </a:srgbClr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0" y="274320"/>
            <a:ext cx="10424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Prompter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47472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Prompt Engineering  ·  Field Reference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25603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347472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5603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0ED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PROMPTING TECHNIQUES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0" y="320040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E8A020">
              <a:alpha val="82000"/>
            </a:srgbClr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3200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161A"/>
                </a:solidFill>
              </a:rPr>
              <a:t>CORE SKILL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078992"/>
            <a:ext cx="2743200" cy="3749040"/>
          </a:xfrm>
          <a:prstGeom prst="rect">
            <a:avLst/>
          </a:prstGeom>
          <a:solidFill>
            <a:srgbClr val="26262F"/>
          </a:solidFill>
          <a:ln w="10160">
            <a:solidFill>
              <a:srgbClr val="2E2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078992"/>
            <a:ext cx="2743200" cy="54864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1261872"/>
            <a:ext cx="420624" cy="420624"/>
          </a:xfrm>
          <a:prstGeom prst="rect">
            <a:avLst/>
          </a:prstGeom>
          <a:solidFill>
            <a:srgbClr val="0A2530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1280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D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Shot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2336" y="1828800"/>
            <a:ext cx="1463040" cy="237744"/>
          </a:xfrm>
          <a:prstGeom prst="roundRect">
            <a:avLst>
              <a:gd name="adj" fmla="val 15385"/>
            </a:avLst>
          </a:prstGeom>
          <a:solidFill>
            <a:srgbClr val="5BB8D4">
              <a:alpha val="82000"/>
            </a:srgbClr>
          </a:solidFill>
          <a:ln w="10160">
            <a:solidFill>
              <a:srgbClr val="5BB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18288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161A"/>
                </a:solidFill>
              </a:rPr>
              <a:t>NO EXAMPLES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02336" y="2157984"/>
            <a:ext cx="2450592" cy="25603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2494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B8D4"/>
                </a:solidFill>
              </a:rPr>
              <a:t>WHAT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2336" y="2450592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</a:rPr>
              <a:t>Ask the model directly — no prior examples given. The model draws entirely from its training knowledge.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" y="3346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B8D4"/>
                </a:solidFill>
              </a:rPr>
              <a:t>BEST FOR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2336" y="354787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F0EDE6"/>
                </a:solidFill>
              </a:rPr>
              <a:t>Simple Q&amp;A · Translations · Summarisation · Factual lookups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2336" y="4078224"/>
            <a:ext cx="2450592" cy="566928"/>
          </a:xfrm>
          <a:prstGeom prst="rect">
            <a:avLst/>
          </a:prstGeom>
          <a:solidFill>
            <a:srgbClr val="0A2530"/>
          </a:solidFill>
          <a:ln w="6350">
            <a:solidFill>
              <a:srgbClr val="5BB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11480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"Translate 'hello' to Spanish."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" y="4370832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Hola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63824" y="1078992"/>
            <a:ext cx="2743200" cy="3749040"/>
          </a:xfrm>
          <a:prstGeom prst="rect">
            <a:avLst/>
          </a:prstGeom>
          <a:solidFill>
            <a:srgbClr val="26262F"/>
          </a:solidFill>
          <a:ln w="10160">
            <a:solidFill>
              <a:srgbClr val="2E2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63824" y="1078992"/>
            <a:ext cx="2743200" cy="54864"/>
          </a:xfrm>
          <a:prstGeom prst="rect">
            <a:avLst/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0128" y="1261872"/>
            <a:ext cx="420624" cy="420624"/>
          </a:xfrm>
          <a:prstGeom prst="rect">
            <a:avLst/>
          </a:prstGeom>
          <a:solidFill>
            <a:srgbClr val="0D2E20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22192" y="1280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D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Shot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10128" y="1828800"/>
            <a:ext cx="1463040" cy="237744"/>
          </a:xfrm>
          <a:prstGeom prst="roundRect">
            <a:avLst>
              <a:gd name="adj" fmla="val 15385"/>
            </a:avLst>
          </a:prstGeom>
          <a:solidFill>
            <a:srgbClr val="7EC8A4">
              <a:alpha val="82000"/>
            </a:srgbClr>
          </a:solidFill>
          <a:ln w="10160">
            <a:solidFill>
              <a:srgbClr val="7EC8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18288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161A"/>
                </a:solidFill>
              </a:rPr>
              <a:t>1 EXAMPLE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10128" y="2157984"/>
            <a:ext cx="2450592" cy="25603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22494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C8A4"/>
                </a:solidFill>
              </a:rPr>
              <a:t>WHAT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10128" y="2450592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</a:rPr>
              <a:t>Provide exactly one input-output example before your real request. The model pattern-matches the format or logic.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10128" y="3346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EC8A4"/>
                </a:solidFill>
              </a:rPr>
              <a:t>BEST FOR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10128" y="354787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F0EDE6"/>
                </a:solidFill>
              </a:rPr>
              <a:t>Classification · Style matching · Data extraction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10128" y="4078224"/>
            <a:ext cx="2450592" cy="566928"/>
          </a:xfrm>
          <a:prstGeom prst="rect">
            <a:avLst/>
          </a:prstGeom>
          <a:solidFill>
            <a:srgbClr val="0D2E20"/>
          </a:solidFill>
          <a:ln w="6350">
            <a:solidFill>
              <a:srgbClr val="7EC8A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411480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"Cat→Animal. Car→?"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83280" y="4370832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Vehicle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71616" y="1078992"/>
            <a:ext cx="2743200" cy="3749040"/>
          </a:xfrm>
          <a:prstGeom prst="rect">
            <a:avLst/>
          </a:prstGeom>
          <a:solidFill>
            <a:srgbClr val="26262F"/>
          </a:solidFill>
          <a:ln w="10160">
            <a:solidFill>
              <a:srgbClr val="2E2E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71616" y="1078992"/>
            <a:ext cx="27432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1261872"/>
            <a:ext cx="420624" cy="420624"/>
          </a:xfrm>
          <a:prstGeom prst="rect">
            <a:avLst/>
          </a:prstGeom>
          <a:solidFill>
            <a:srgbClr val="3A2A08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∞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729984" y="1280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D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 of Thought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17920" y="1828800"/>
            <a:ext cx="1463040" cy="237744"/>
          </a:xfrm>
          <a:prstGeom prst="roundRect">
            <a:avLst>
              <a:gd name="adj" fmla="val 15385"/>
            </a:avLst>
          </a:prstGeom>
          <a:solidFill>
            <a:srgbClr val="E8A020">
              <a:alpha val="82000"/>
            </a:srgbClr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18288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161A"/>
                </a:solidFill>
              </a:rPr>
              <a:t>REASONING CHAIN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17920" y="2157984"/>
            <a:ext cx="2450592" cy="25603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22494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WHAT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17920" y="2450592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</a:rPr>
              <a:t>Instruct the model to reason step-by-step before answering. Dramatically reduces logical errors on complex tasks.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17920" y="3346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BEST FOR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17920" y="354787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F0EDE6"/>
                </a:solidFill>
              </a:rPr>
              <a:t>Math · Logic · Coding · Multi-step analysis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17920" y="4078224"/>
            <a:ext cx="2450592" cy="566928"/>
          </a:xfrm>
          <a:prstGeom prst="rect">
            <a:avLst/>
          </a:prstGeom>
          <a:solidFill>
            <a:srgbClr val="3A2A08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91072" y="411480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"Think step by step: If 3 apples + 2…"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291072" y="4370832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5 apples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503920" y="495604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A"/>
                </a:solidFill>
              </a:rPr>
              <a:t>Slide 2 / 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25603"/>
          </a:xfrm>
          <a:prstGeom prst="rect">
            <a:avLst/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347472" cy="347472"/>
          </a:xfrm>
          <a:prstGeom prst="rect">
            <a:avLst/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5603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0ED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DESIGN  &amp;  PARAMETERS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589520" y="32004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7EC8A4">
              <a:alpha val="82000"/>
            </a:srgbClr>
          </a:solidFill>
          <a:ln w="10160">
            <a:solidFill>
              <a:srgbClr val="7EC8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3200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161A"/>
                </a:solidFill>
              </a:rPr>
              <a:t>STRUCTURE · TUNE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024128"/>
            <a:ext cx="4023360" cy="329184"/>
          </a:xfrm>
          <a:prstGeom prst="rect">
            <a:avLst/>
          </a:prstGeom>
          <a:solidFill>
            <a:srgbClr val="0D2E20"/>
          </a:solidFill>
          <a:ln w="10160">
            <a:solidFill>
              <a:srgbClr val="7EC8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0241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 PROMPT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426464"/>
            <a:ext cx="36576" cy="457200"/>
          </a:xfrm>
          <a:prstGeom prst="rect">
            <a:avLst/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4264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DE6"/>
                </a:solidFill>
              </a:rPr>
              <a:t>Be Specific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645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A9A"/>
                </a:solidFill>
              </a:rPr>
              <a:t>Vague prompts yield vague outputs. State exactly what you need.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1993392"/>
            <a:ext cx="36576" cy="457200"/>
          </a:xfrm>
          <a:prstGeom prst="rect">
            <a:avLst/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993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DE6"/>
                </a:solidFill>
              </a:rPr>
              <a:t>Set the Role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A9A"/>
                </a:solidFill>
              </a:rPr>
              <a:t>Start with a persona — 'You are a senior Python developer…'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2560320"/>
            <a:ext cx="36576" cy="457200"/>
          </a:xfrm>
          <a:prstGeom prst="rect">
            <a:avLst/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5603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DE6"/>
                </a:solidFill>
              </a:rPr>
              <a:t>Define Output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2779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A9A"/>
                </a:solidFill>
              </a:rPr>
              <a:t>Specify format: JSON, bullet list, 200-word summary, etc.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3163824"/>
            <a:ext cx="4023360" cy="25603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3255264"/>
            <a:ext cx="4023360" cy="329184"/>
          </a:xfrm>
          <a:prstGeom prst="rect">
            <a:avLst/>
          </a:prstGeom>
          <a:solidFill>
            <a:srgbClr val="0D2E20"/>
          </a:solidFill>
          <a:ln w="10160">
            <a:solidFill>
              <a:srgbClr val="7EC8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2552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 STRUCTURED PROMPTS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3657600"/>
            <a:ext cx="4023360" cy="1188720"/>
          </a:xfrm>
          <a:prstGeom prst="rect">
            <a:avLst/>
          </a:prstGeom>
          <a:solidFill>
            <a:srgbClr val="26262F"/>
          </a:solidFill>
          <a:ln w="10160">
            <a:solidFill>
              <a:srgbClr val="2E2E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3730752"/>
            <a:ext cx="594360" cy="182880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7307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161A"/>
                </a:solidFill>
              </a:rPr>
              <a:t>CONTEXT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87552" y="3730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Background / domain knowledge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22576" y="3730752"/>
            <a:ext cx="594360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22576" y="37307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161A"/>
                </a:solidFill>
              </a:rPr>
              <a:t>TASK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962656" y="3730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The specific action to perform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4242816"/>
            <a:ext cx="594360" cy="182880"/>
          </a:xfrm>
          <a:prstGeom prst="rect">
            <a:avLst/>
          </a:prstGeom>
          <a:solidFill>
            <a:srgbClr val="E8614A"/>
          </a:solidFill>
          <a:ln w="12700">
            <a:solidFill>
              <a:srgbClr val="E861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242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161A"/>
                </a:solidFill>
              </a:rPr>
              <a:t>FORMAT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87552" y="42428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Output shape: list · JSON · table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322576" y="4242816"/>
            <a:ext cx="594360" cy="182880"/>
          </a:xfrm>
          <a:prstGeom prst="rect">
            <a:avLst/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22576" y="42428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161A"/>
                </a:solidFill>
              </a:rPr>
              <a:t>PERSONA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962656" y="42428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</a:rPr>
              <a:t>Who the AI should act as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1024128"/>
            <a:ext cx="4224528" cy="329184"/>
          </a:xfrm>
          <a:prstGeom prst="rect">
            <a:avLst/>
          </a:prstGeom>
          <a:solidFill>
            <a:srgbClr val="0A2530"/>
          </a:solidFill>
          <a:ln w="10160">
            <a:solidFill>
              <a:srgbClr val="5BB8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0241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B8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 PARAMETER VALUES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1472184"/>
            <a:ext cx="4224528" cy="594360"/>
          </a:xfrm>
          <a:prstGeom prst="rect">
            <a:avLst/>
          </a:prstGeom>
          <a:solidFill>
            <a:srgbClr val="26262F"/>
          </a:solidFill>
          <a:ln w="7620">
            <a:solidFill>
              <a:srgbClr val="2E2E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1472184"/>
            <a:ext cx="54864" cy="594360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91456" y="14904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Output Tokens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967728" y="1508760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5BB8D4">
              <a:alpha val="22000"/>
            </a:srgbClr>
          </a:solidFill>
          <a:ln w="10160">
            <a:solidFill>
              <a:srgbClr val="5BB8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67728" y="1508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B8D4"/>
                </a:solidFill>
              </a:rPr>
              <a:t>256 – 8192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91456" y="1746504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A9A"/>
                </a:solidFill>
              </a:rPr>
              <a:t>Hard cap on response length. Higher = more detail, more cost.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2139696"/>
            <a:ext cx="4224528" cy="594360"/>
          </a:xfrm>
          <a:prstGeom prst="rect">
            <a:avLst/>
          </a:prstGeom>
          <a:solidFill>
            <a:srgbClr val="26262F"/>
          </a:solidFill>
          <a:ln w="7620">
            <a:solidFill>
              <a:srgbClr val="2E2E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2139696"/>
            <a:ext cx="54864" cy="5943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91456" y="21579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967728" y="2176272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E8A020">
              <a:alpha val="22000"/>
            </a:srgbClr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67728" y="2176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0.0 – 1.0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91456" y="241401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A9A"/>
                </a:solidFill>
              </a:rPr>
              <a:t>Controls randomness. 0 = deterministic. 1 = creative/unpredictable.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2807208"/>
            <a:ext cx="4224528" cy="594360"/>
          </a:xfrm>
          <a:prstGeom prst="rect">
            <a:avLst/>
          </a:prstGeom>
          <a:solidFill>
            <a:srgbClr val="26262F"/>
          </a:solidFill>
          <a:ln w="7620">
            <a:solidFill>
              <a:srgbClr val="2E2E3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2807208"/>
            <a:ext cx="54864" cy="594360"/>
          </a:xfrm>
          <a:prstGeom prst="rect">
            <a:avLst/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91456" y="28254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 (nucleus)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967728" y="2843784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7EC8A4">
              <a:alpha val="22000"/>
            </a:srgbClr>
          </a:solidFill>
          <a:ln w="10160">
            <a:solidFill>
              <a:srgbClr val="7EC8A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67728" y="2843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EC8A4"/>
                </a:solidFill>
              </a:rPr>
              <a:t>0.0 – 1.0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791456" y="30815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A9A"/>
                </a:solidFill>
              </a:rPr>
              <a:t>Samples from the top P% of probability mass. Limits wild guesses.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63440" y="3474720"/>
            <a:ext cx="4224528" cy="594360"/>
          </a:xfrm>
          <a:prstGeom prst="rect">
            <a:avLst/>
          </a:prstGeom>
          <a:solidFill>
            <a:srgbClr val="26262F"/>
          </a:solidFill>
          <a:ln w="7620">
            <a:solidFill>
              <a:srgbClr val="2E2E3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3474720"/>
            <a:ext cx="54864" cy="594360"/>
          </a:xfrm>
          <a:prstGeom prst="rect">
            <a:avLst/>
          </a:prstGeom>
          <a:solidFill>
            <a:srgbClr val="E8614A"/>
          </a:solidFill>
          <a:ln w="12700">
            <a:solidFill>
              <a:srgbClr val="E861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91456" y="34930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967728" y="3511296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E8614A">
              <a:alpha val="22000"/>
            </a:srgbClr>
          </a:solidFill>
          <a:ln w="10160">
            <a:solidFill>
              <a:srgbClr val="E861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67728" y="35112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614A"/>
                </a:solidFill>
              </a:rPr>
              <a:t>1 – 100+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791456" y="374904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A9A"/>
                </a:solidFill>
              </a:rPr>
              <a:t>Only considers the K most likely next tokens at each step.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663440" y="4142232"/>
            <a:ext cx="4224528" cy="594360"/>
          </a:xfrm>
          <a:prstGeom prst="rect">
            <a:avLst/>
          </a:prstGeom>
          <a:solidFill>
            <a:srgbClr val="26262F"/>
          </a:solidFill>
          <a:ln w="7620">
            <a:solidFill>
              <a:srgbClr val="2E2E3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63440" y="4142232"/>
            <a:ext cx="54864" cy="594360"/>
          </a:xfrm>
          <a:prstGeom prst="rect">
            <a:avLst/>
          </a:prstGeom>
          <a:solidFill>
            <a:srgbClr val="8A8A9A"/>
          </a:solidFill>
          <a:ln w="12700">
            <a:solidFill>
              <a:srgbClr val="8A8A9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91456" y="4160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6967728" y="4178808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8A8A9A">
              <a:alpha val="22000"/>
            </a:srgbClr>
          </a:solidFill>
          <a:ln w="10160">
            <a:solidFill>
              <a:srgbClr val="8A8A9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67728" y="41788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A9A"/>
                </a:solidFill>
              </a:rPr>
              <a:t>any integer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791456" y="441655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8A9A"/>
                </a:solidFill>
              </a:rPr>
              <a:t>Fixes randomness so identical prompts produce identical outputs.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503920" y="495604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A"/>
                </a:solidFill>
              </a:rPr>
              <a:t>Slide 3 /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1F26"/>
          </a:solidFill>
          <a:ln w="12700">
            <a:solidFill>
              <a:srgbClr val="1F1F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25603"/>
          </a:xfrm>
          <a:prstGeom prst="rect">
            <a:avLst/>
          </a:prstGeom>
          <a:solidFill>
            <a:srgbClr val="E8614A"/>
          </a:solidFill>
          <a:ln w="12700">
            <a:solidFill>
              <a:srgbClr val="E861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347472" cy="347472"/>
          </a:xfrm>
          <a:prstGeom prst="rect">
            <a:avLst/>
          </a:prstGeom>
          <a:solidFill>
            <a:srgbClr val="E8614A"/>
          </a:solidFill>
          <a:ln w="12700">
            <a:solidFill>
              <a:srgbClr val="E861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5603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0ED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GENERATING CODE WITH AI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0" y="320040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E8614A">
              <a:alpha val="82000"/>
            </a:srgbClr>
          </a:solidFill>
          <a:ln w="10160">
            <a:solidFill>
              <a:srgbClr val="E86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3200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161A"/>
                </a:solidFill>
              </a:rPr>
              <a:t>PRACTICAL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051560"/>
            <a:ext cx="4133088" cy="1170432"/>
          </a:xfrm>
          <a:prstGeom prst="rect">
            <a:avLst/>
          </a:prstGeom>
          <a:solidFill>
            <a:srgbClr val="26262F"/>
          </a:solidFill>
          <a:ln w="10160">
            <a:solidFill>
              <a:srgbClr val="2E2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051560"/>
            <a:ext cx="54864" cy="1170432"/>
          </a:xfrm>
          <a:prstGeom prst="rect">
            <a:avLst/>
          </a:prstGeom>
          <a:solidFill>
            <a:srgbClr val="E8614A"/>
          </a:solidFill>
          <a:ln w="12700">
            <a:solidFill>
              <a:srgbClr val="E861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1216152"/>
            <a:ext cx="329184" cy="329184"/>
          </a:xfrm>
          <a:prstGeom prst="rect">
            <a:avLst/>
          </a:prstGeom>
          <a:solidFill>
            <a:srgbClr val="E8614A"/>
          </a:solidFill>
          <a:ln w="12700">
            <a:solidFill>
              <a:srgbClr val="E86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216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179576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Craft a Precise Code Prompt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508760"/>
            <a:ext cx="3438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8A9A"/>
                </a:solidFill>
              </a:rPr>
              <a:t>Specify language, function signature, edge cases, and expected output format. Ambiguity causes wrong or insecure code.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" y="2350008"/>
            <a:ext cx="4133088" cy="1170432"/>
          </a:xfrm>
          <a:prstGeom prst="rect">
            <a:avLst/>
          </a:prstGeom>
          <a:solidFill>
            <a:srgbClr val="26262F"/>
          </a:solidFill>
          <a:ln w="10160">
            <a:solidFill>
              <a:srgbClr val="2E2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350008"/>
            <a:ext cx="54864" cy="11704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" y="2514600"/>
            <a:ext cx="329184" cy="32918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478024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Role + Chain of Thought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807208"/>
            <a:ext cx="3438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8A9A"/>
                </a:solidFill>
              </a:rPr>
              <a:t>"You are a senior Python engineer. Explain your approach, then write the function." CoT reveals the model's reasoning.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648456"/>
            <a:ext cx="4133088" cy="1170432"/>
          </a:xfrm>
          <a:prstGeom prst="rect">
            <a:avLst/>
          </a:prstGeom>
          <a:solidFill>
            <a:srgbClr val="26262F"/>
          </a:solidFill>
          <a:ln w="10160">
            <a:solidFill>
              <a:srgbClr val="2E2E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648456"/>
            <a:ext cx="54864" cy="1170432"/>
          </a:xfrm>
          <a:prstGeom prst="rect">
            <a:avLst/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" y="3813048"/>
            <a:ext cx="329184" cy="329184"/>
          </a:xfrm>
          <a:prstGeom prst="rect">
            <a:avLst/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6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3776472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Iterate &amp; Set Parameters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105656"/>
            <a:ext cx="3438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8A9A"/>
                </a:solidFill>
              </a:rPr>
              <a:t>Low temperature (0.2–0.4) for deterministic code. Use Max Tokens to control output length. Seed for reproducibility.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1051560"/>
            <a:ext cx="4224528" cy="310896"/>
          </a:xfrm>
          <a:prstGeom prst="rect">
            <a:avLst/>
          </a:prstGeom>
          <a:solidFill>
            <a:srgbClr val="2A2A35"/>
          </a:solidFill>
          <a:ln w="10160">
            <a:solidFill>
              <a:srgbClr val="2E2E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73168" y="1115568"/>
            <a:ext cx="164592" cy="164592"/>
          </a:xfrm>
          <a:prstGeom prst="ellipse">
            <a:avLst/>
          </a:prstGeom>
          <a:solidFill>
            <a:srgbClr val="E8614A">
              <a:alpha val="80000"/>
            </a:srgbClr>
          </a:solidFill>
          <a:ln w="12700">
            <a:solidFill>
              <a:srgbClr val="E8614A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47488" y="1115568"/>
            <a:ext cx="164592" cy="164592"/>
          </a:xfrm>
          <a:prstGeom prst="ellipse">
            <a:avLst/>
          </a:prstGeom>
          <a:solidFill>
            <a:srgbClr val="E8A020">
              <a:alpha val="80000"/>
            </a:srgbClr>
          </a:solidFill>
          <a:ln w="12700">
            <a:solidFill>
              <a:srgbClr val="E8A020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21808" y="1115568"/>
            <a:ext cx="164592" cy="164592"/>
          </a:xfrm>
          <a:prstGeom prst="ellipse">
            <a:avLst/>
          </a:prstGeom>
          <a:solidFill>
            <a:srgbClr val="7EC8A4">
              <a:alpha val="80000"/>
            </a:srgbClr>
          </a:solidFill>
          <a:ln w="12700">
            <a:solidFill>
              <a:srgbClr val="7EC8A4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10789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prompt_to_code.py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362456"/>
            <a:ext cx="4224528" cy="3493008"/>
          </a:xfrm>
          <a:prstGeom prst="rect">
            <a:avLst/>
          </a:prstGeom>
          <a:solidFill>
            <a:srgbClr val="111118"/>
          </a:solidFill>
          <a:ln w="10160">
            <a:solidFill>
              <a:srgbClr val="2E2E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8304" y="14173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0" y="1417320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Prompt sent to AI model: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18304" y="160477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0" y="1604772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D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"""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18304" y="179222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9200" y="179222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You are a Python expert.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18304" y="197967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0" y="1979676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 a function that: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18304" y="21671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29200" y="2167128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Takes a list of numbers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18304" y="235458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29200" y="2354580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Returns mean &amp; median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18304" y="254203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29200" y="2542032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Include docstring + types.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18304" y="272948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029200" y="272948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ED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18304" y="291693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718304" y="310438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029200" y="3104388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 response (Temp=0.2):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18304" y="32918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029200" y="3291840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stats(nums: list[float])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718304" y="347929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029200" y="3479292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dict[str, float]: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18304" y="366674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029200" y="366674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"""Returns mean/median."""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18304" y="385419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029200" y="3854196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mean = sum(nums)/len(nums)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718304" y="404164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029200" y="4041648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sorted_n = sorted(nums)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718304" y="42291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029200" y="4229100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mid = len(sorted_n)//2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718304" y="441655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029200" y="4416552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61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{"mean":mean,...}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663440" y="4855464"/>
            <a:ext cx="4224528" cy="164592"/>
          </a:xfrm>
          <a:prstGeom prst="rect">
            <a:avLst/>
          </a:prstGeom>
          <a:solidFill>
            <a:srgbClr val="2E1510"/>
          </a:solidFill>
          <a:ln w="6350">
            <a:solidFill>
              <a:srgbClr val="E861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18304" y="48554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6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Temp 0.2 · Top-K 40 · Seed 42  →  deterministic, reviewable output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503920" y="495604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9A"/>
                </a:solidFill>
              </a:rPr>
              <a:t>Slide 4 /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2026-03-12T13:03:25Z</dcterms:created>
  <dcterms:modified xsi:type="dcterms:W3CDTF">2026-03-12T13:03:25Z</dcterms:modified>
</cp:coreProperties>
</file>